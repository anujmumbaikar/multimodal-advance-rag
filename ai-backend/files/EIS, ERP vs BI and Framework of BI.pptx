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80" r:id="rId3"/>
    <p:sldId id="274" r:id="rId4"/>
    <p:sldId id="275" r:id="rId5"/>
    <p:sldId id="276" r:id="rId6"/>
    <p:sldId id="277" r:id="rId7"/>
    <p:sldId id="278" r:id="rId8"/>
    <p:sldId id="281" r:id="rId9"/>
    <p:sldId id="282" r:id="rId10"/>
    <p:sldId id="283" r:id="rId11"/>
    <p:sldId id="284" r:id="rId12"/>
    <p:sldId id="285" r:id="rId13"/>
    <p:sldId id="286" r:id="rId14"/>
    <p:sldId id="287" r:id="rId15"/>
    <p:sldId id="288" r:id="rId16"/>
    <p:sldId id="289" r:id="rId17"/>
    <p:sldId id="290" r:id="rId18"/>
    <p:sldId id="291" r:id="rId19"/>
    <p:sldId id="29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1" d="100"/>
          <a:sy n="61" d="100"/>
        </p:scale>
        <p:origin x="8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2BFDE-4F55-E0D7-CB68-E5E6E73B1A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C6481F-415C-4948-32C5-DF60F167E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351188-98A0-22E4-F518-0FDAC3660DEC}"/>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44E4F5CA-DCAE-9068-8135-C8D7AD1FD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6005F-116F-B34A-4A15-13198841B843}"/>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886154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17392-15A4-A7D9-EB9F-DC232A6A63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F1BCF9-1401-0514-174B-830C43C743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DE7130-5CC9-E185-4F6E-51156E28B8A7}"/>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59C09DBC-235F-D601-B1AE-C57E7CBBE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3A2C7-55D8-76D2-5B06-63434D2F6C5E}"/>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4197450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B87A7-3477-1C29-37FC-843CB6CC60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083DC8-7656-ED4F-6693-14714EAE2D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B73DF-C163-3571-614D-4725EC2388F4}"/>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BCA24777-99DC-A758-DD20-184E81F91D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FC9D78-1CCD-2871-D36B-933DC127FA0F}"/>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65926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059AB-344E-7F0A-F8FF-7C1B8E17A1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4BAE9A-E0D3-8039-5889-CCF0328D4F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58AC2C-D7C6-DA55-7D51-34670471F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88C524-0AB8-CA92-B33B-8BC6BC6541DF}"/>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6" name="Footer Placeholder 5">
            <a:extLst>
              <a:ext uri="{FF2B5EF4-FFF2-40B4-BE49-F238E27FC236}">
                <a16:creationId xmlns:a16="http://schemas.microsoft.com/office/drawing/2014/main" id="{58F05300-6943-4B38-0373-7E75E82A26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C44992-E006-3B5E-6788-2319D1A8BE05}"/>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3565466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5EE63-4EED-A9A3-54F0-0D2F94E407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2F664-1629-D7D5-CFFC-C766F57717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199E9-3A12-3E71-50F0-F1094146E0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01C72B7-188C-A3E7-50ED-FB4F10733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76EFF4-C2D4-543C-4E46-0E05E3C55D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259774-AC63-03E9-827B-56591A6D1097}"/>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8" name="Footer Placeholder 7">
            <a:extLst>
              <a:ext uri="{FF2B5EF4-FFF2-40B4-BE49-F238E27FC236}">
                <a16:creationId xmlns:a16="http://schemas.microsoft.com/office/drawing/2014/main" id="{1DB24083-FF69-51FB-9604-C62F084488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AF2807-9C8E-4767-954A-D39F76A4CAAA}"/>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3004981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19182-CA54-902A-E812-D277A99488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619AFA-F7E1-036D-A0DC-C3248B653664}"/>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4" name="Footer Placeholder 3">
            <a:extLst>
              <a:ext uri="{FF2B5EF4-FFF2-40B4-BE49-F238E27FC236}">
                <a16:creationId xmlns:a16="http://schemas.microsoft.com/office/drawing/2014/main" id="{98ADFC44-227B-A5B8-1C27-17D5E3C98A1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11C554-0E7B-78CD-83E5-676CB0D703EC}"/>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1555746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974238-C789-9A43-0E34-3C144D83F5E8}"/>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3" name="Footer Placeholder 2">
            <a:extLst>
              <a:ext uri="{FF2B5EF4-FFF2-40B4-BE49-F238E27FC236}">
                <a16:creationId xmlns:a16="http://schemas.microsoft.com/office/drawing/2014/main" id="{AFCEB56A-632A-1C1B-2D16-392B12A32B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EDD731-2929-CAB3-6CD2-AAE7280C18F8}"/>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1455485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439E8-E55D-52CA-6CEC-4BCE13AC29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0B8372-4A2D-3D32-71A6-CB7849139D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2DBB03-0EEB-3DBE-E3A6-B4C24835E4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9BBD8-5B11-B3C8-B3C0-5A9323E646B1}"/>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6" name="Footer Placeholder 5">
            <a:extLst>
              <a:ext uri="{FF2B5EF4-FFF2-40B4-BE49-F238E27FC236}">
                <a16:creationId xmlns:a16="http://schemas.microsoft.com/office/drawing/2014/main" id="{B3E2CB24-1F20-DE5E-A22C-66DAB66C09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7C3BA3-DDB9-CF3A-3BA4-580AE5DAFF96}"/>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2049411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ECA2-738C-44A2-1357-AB20DA61D6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890570-EC4E-B49C-EA97-323C2B7A3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97676A-38EB-E1ED-F67F-7525938D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08221F-9105-8481-F203-D86273B738F0}"/>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6" name="Footer Placeholder 5">
            <a:extLst>
              <a:ext uri="{FF2B5EF4-FFF2-40B4-BE49-F238E27FC236}">
                <a16:creationId xmlns:a16="http://schemas.microsoft.com/office/drawing/2014/main" id="{ABF8FD5B-CBB4-DBF8-D05B-A8C0DFD838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42B857-2C81-E5C9-488F-F0304E9667FB}"/>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424878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05CB-0E29-91AC-363F-68D50A47CB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73E1AE-46BD-6767-BAF2-D9BE3D5222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F733F1-6F94-C55A-1E9C-EEE162F4D5A4}"/>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EE13CA5E-FA4C-ABE0-F6B4-07EF26A36A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3F3045-6875-16AA-BC18-679524ABA0EF}"/>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98177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083D8B-52E0-0DBE-AABE-A4BB4AFD40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9B1325-02D1-7661-F1ED-4FC1B6B82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B2375F-88DC-5A9A-6019-04B98C54F4A7}"/>
              </a:ext>
            </a:extLst>
          </p:cNvPr>
          <p:cNvSpPr>
            <a:spLocks noGrp="1"/>
          </p:cNvSpPr>
          <p:nvPr>
            <p:ph type="dt" sz="half" idx="10"/>
          </p:nvPr>
        </p:nvSpPr>
        <p:spPr/>
        <p:txBody>
          <a:body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54E933CD-AD17-DA0E-5DEC-C617BBE5C0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99F7A5-9DBD-E7BF-4C51-4B3EE1AEED41}"/>
              </a:ext>
            </a:extLst>
          </p:cNvPr>
          <p:cNvSpPr>
            <a:spLocks noGrp="1"/>
          </p:cNvSpPr>
          <p:nvPr>
            <p:ph type="sldNum" sz="quarter" idx="12"/>
          </p:nvPr>
        </p:nvSpPr>
        <p:spPr/>
        <p:txBody>
          <a:bodyPr/>
          <a:lstStyle/>
          <a:p>
            <a:fld id="{8A8268EA-B3B4-48D1-A0C2-73C88863F99C}" type="slidenum">
              <a:rPr lang="en-IN" smtClean="0"/>
              <a:t>‹#›</a:t>
            </a:fld>
            <a:endParaRPr lang="en-IN"/>
          </a:p>
        </p:txBody>
      </p:sp>
    </p:spTree>
    <p:extLst>
      <p:ext uri="{BB962C8B-B14F-4D97-AF65-F5344CB8AC3E}">
        <p14:creationId xmlns:p14="http://schemas.microsoft.com/office/powerpoint/2010/main" val="300428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4BA502-A2F9-083D-B89B-B66077FD57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7208FF-E4FE-63FB-0C72-561C600A65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D506F-6D09-8F99-8D79-CCDB35F64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5D9176-E191-4F7B-B490-78FA898C6729}" type="datetimeFigureOut">
              <a:rPr lang="en-IN" smtClean="0"/>
              <a:t>19-02-2026</a:t>
            </a:fld>
            <a:endParaRPr lang="en-IN"/>
          </a:p>
        </p:txBody>
      </p:sp>
      <p:sp>
        <p:nvSpPr>
          <p:cNvPr id="5" name="Footer Placeholder 4">
            <a:extLst>
              <a:ext uri="{FF2B5EF4-FFF2-40B4-BE49-F238E27FC236}">
                <a16:creationId xmlns:a16="http://schemas.microsoft.com/office/drawing/2014/main" id="{9B4311B8-EF46-B6CC-12F2-E8F37268F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CB92CB-0CE3-CE0B-E7C8-3F515F7997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8268EA-B3B4-48D1-A0C2-73C88863F99C}" type="slidenum">
              <a:rPr lang="en-IN" smtClean="0"/>
              <a:t>‹#›</a:t>
            </a:fld>
            <a:endParaRPr lang="en-IN"/>
          </a:p>
        </p:txBody>
      </p:sp>
    </p:spTree>
    <p:extLst>
      <p:ext uri="{BB962C8B-B14F-4D97-AF65-F5344CB8AC3E}">
        <p14:creationId xmlns:p14="http://schemas.microsoft.com/office/powerpoint/2010/main" val="1439663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FD2FB-31DA-D73C-1F23-D6BFD3EC9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1A573-5A61-CCB2-145E-3A96EDCC333A}"/>
              </a:ext>
            </a:extLst>
          </p:cNvPr>
          <p:cNvSpPr>
            <a:spLocks noGrp="1"/>
          </p:cNvSpPr>
          <p:nvPr>
            <p:ph type="title"/>
          </p:nvPr>
        </p:nvSpPr>
        <p:spPr>
          <a:xfrm>
            <a:off x="178676" y="0"/>
            <a:ext cx="11080531" cy="687561"/>
          </a:xfrm>
        </p:spPr>
        <p:txBody>
          <a:bodyPr>
            <a:normAutofit/>
          </a:bodyPr>
          <a:lstStyle/>
          <a:p>
            <a:r>
              <a:rPr lang="en-US" sz="4000" b="1" dirty="0">
                <a:latin typeface="Times New Roman" panose="02020603050405020304" pitchFamily="18" charset="0"/>
                <a:cs typeface="Times New Roman" panose="02020603050405020304" pitchFamily="18" charset="0"/>
              </a:rPr>
              <a:t>Executive Information System</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1AAC4810-292E-8002-9643-E542234F25E7}"/>
              </a:ext>
            </a:extLst>
          </p:cNvPr>
          <p:cNvSpPr>
            <a:spLocks noGrp="1"/>
          </p:cNvSpPr>
          <p:nvPr>
            <p:ph idx="1"/>
          </p:nvPr>
        </p:nvSpPr>
        <p:spPr>
          <a:xfrm>
            <a:off x="84084" y="687561"/>
            <a:ext cx="11929240" cy="6259777"/>
          </a:xfrm>
        </p:spPr>
        <p:txBody>
          <a:bodyPr>
            <a:noAutofit/>
          </a:bodyPr>
          <a:lstStyle/>
          <a:p>
            <a:pPr algn="just">
              <a:lnSpc>
                <a:spcPct val="150000"/>
              </a:lnSpc>
            </a:pPr>
            <a:r>
              <a:rPr lang="en-US" sz="2300" dirty="0">
                <a:latin typeface="Times New Roman" panose="02020603050405020304" pitchFamily="18" charset="0"/>
                <a:cs typeface="Times New Roman" panose="02020603050405020304" pitchFamily="18" charset="0"/>
              </a:rPr>
              <a:t>An information system designed to cater the specific needs of executives is known as Executive Information System (EIS). It is also known Executive Support System (ESS).</a:t>
            </a:r>
          </a:p>
          <a:p>
            <a:pPr algn="just">
              <a:lnSpc>
                <a:spcPct val="150000"/>
              </a:lnSpc>
            </a:pPr>
            <a:r>
              <a:rPr lang="en-US" sz="2300" dirty="0">
                <a:latin typeface="Times New Roman" panose="02020603050405020304" pitchFamily="18" charset="0"/>
                <a:cs typeface="Times New Roman" panose="02020603050405020304" pitchFamily="18" charset="0"/>
              </a:rPr>
              <a:t>It is an association of many features of Management Information System (MIS) and DSS. </a:t>
            </a:r>
          </a:p>
          <a:p>
            <a:pPr algn="just">
              <a:lnSpc>
                <a:spcPct val="150000"/>
              </a:lnSpc>
            </a:pPr>
            <a:r>
              <a:rPr lang="en-US" sz="2300" dirty="0">
                <a:latin typeface="Times New Roman" panose="02020603050405020304" pitchFamily="18" charset="0"/>
                <a:cs typeface="Times New Roman" panose="02020603050405020304" pitchFamily="18" charset="0"/>
              </a:rPr>
              <a:t>Executive Information System (EIS) is computer-based information delivery and communication system designed to support the needs of top executives. It provides high-level, summarized information to them.</a:t>
            </a:r>
          </a:p>
          <a:p>
            <a:pPr algn="just">
              <a:lnSpc>
                <a:spcPct val="150000"/>
              </a:lnSpc>
            </a:pPr>
            <a:r>
              <a:rPr lang="en-US" sz="2300" dirty="0">
                <a:latin typeface="Times New Roman" panose="02020603050405020304" pitchFamily="18" charset="0"/>
                <a:cs typeface="Times New Roman" panose="02020603050405020304" pitchFamily="18" charset="0"/>
              </a:rPr>
              <a:t>Example: A CEO logs into an EIS dashboard and sees: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Today’s revenue vs target, Region-wise sales performance, Market growth trends, Risk alerts, Competitor comparison. From one screen, they can decide whether to increase marketing in a low-performing region.</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7061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ecutive Dashboards: 7 Examples for CEOs &amp; Executives | Klipfolio">
            <a:extLst>
              <a:ext uri="{FF2B5EF4-FFF2-40B4-BE49-F238E27FC236}">
                <a16:creationId xmlns:a16="http://schemas.microsoft.com/office/drawing/2014/main" id="{A5146344-E639-E525-E28D-AA61A2873F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206" y="0"/>
            <a:ext cx="1047881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26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EB5A7-C4C8-1DA2-32E4-9907BCFBA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5C358-B9E7-C86A-668C-E5BFABD28F66}"/>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Executive Information System</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974DEB6-C3E6-E120-D176-ED77B4022464}"/>
              </a:ext>
            </a:extLst>
          </p:cNvPr>
          <p:cNvSpPr>
            <a:spLocks noGrp="1"/>
          </p:cNvSpPr>
          <p:nvPr>
            <p:ph idx="1"/>
          </p:nvPr>
        </p:nvSpPr>
        <p:spPr>
          <a:xfrm>
            <a:off x="178676" y="851339"/>
            <a:ext cx="11778193" cy="5836844"/>
          </a:xfrm>
        </p:spPr>
        <p:txBody>
          <a:bodyPr>
            <a:normAutofit/>
          </a:bodyPr>
          <a:lstStyle/>
          <a:p>
            <a:pPr algn="just">
              <a:lnSpc>
                <a:spcPct val="150000"/>
              </a:lnSpc>
            </a:pPr>
            <a:r>
              <a:rPr lang="en-US" sz="2300" b="1" dirty="0">
                <a:latin typeface="Times New Roman" panose="02020603050405020304" pitchFamily="18" charset="0"/>
                <a:cs typeface="Times New Roman" panose="02020603050405020304" pitchFamily="18" charset="0"/>
              </a:rPr>
              <a:t>Characteristics of Executive Information System (EIS):</a:t>
            </a:r>
          </a:p>
          <a:p>
            <a:pPr marL="0" indent="0" algn="just">
              <a:lnSpc>
                <a:spcPct val="150000"/>
              </a:lnSpc>
              <a:buNone/>
            </a:pPr>
            <a:r>
              <a:rPr lang="en-US" sz="2300" b="1" dirty="0">
                <a:latin typeface="Times New Roman" panose="02020603050405020304" pitchFamily="18" charset="0"/>
                <a:cs typeface="Times New Roman" panose="02020603050405020304" pitchFamily="18" charset="0"/>
              </a:rPr>
              <a:t>1) Drill-Down Capabilities :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This helps the executive to get the details from particular information, e.g., drop in corporate sales in a particular region. In systems that use graphical user interface, hypertext-style connections are used for information gathering. In menu-driven systems, sub-menus are used to access the detailed information at each level.</a:t>
            </a:r>
          </a:p>
          <a:p>
            <a:pPr marL="0" indent="0" algn="just">
              <a:lnSpc>
                <a:spcPct val="150000"/>
              </a:lnSpc>
              <a:buNone/>
            </a:pPr>
            <a:r>
              <a:rPr lang="en-US" sz="2300" b="1" dirty="0">
                <a:latin typeface="Times New Roman" panose="02020603050405020304" pitchFamily="18" charset="0"/>
                <a:cs typeface="Times New Roman" panose="02020603050405020304" pitchFamily="18" charset="0"/>
              </a:rPr>
              <a:t>2) Designed with Management's Critical Success Factors In Mind :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Each company has its own critical aspects to achieve the </a:t>
            </a:r>
            <a:r>
              <a:rPr lang="en-US" sz="2300" dirty="0" err="1">
                <a:latin typeface="Times New Roman" panose="02020603050405020304" pitchFamily="18" charset="0"/>
                <a:cs typeface="Times New Roman" panose="02020603050405020304" pitchFamily="18" charset="0"/>
              </a:rPr>
              <a:t>organisational</a:t>
            </a:r>
            <a:r>
              <a:rPr lang="en-US" sz="2300" dirty="0">
                <a:latin typeface="Times New Roman" panose="02020603050405020304" pitchFamily="18" charset="0"/>
                <a:cs typeface="Times New Roman" panose="02020603050405020304" pitchFamily="18" charset="0"/>
              </a:rPr>
              <a:t> objectives. These aspects can be at the individual, departmental and </a:t>
            </a:r>
            <a:r>
              <a:rPr lang="en-US" sz="2300" dirty="0" err="1">
                <a:latin typeface="Times New Roman" panose="02020603050405020304" pitchFamily="18" charset="0"/>
                <a:cs typeface="Times New Roman" panose="02020603050405020304" pitchFamily="18" charset="0"/>
              </a:rPr>
              <a:t>organisational</a:t>
            </a:r>
            <a:r>
              <a:rPr lang="en-US" sz="2300" dirty="0">
                <a:latin typeface="Times New Roman" panose="02020603050405020304" pitchFamily="18" charset="0"/>
                <a:cs typeface="Times New Roman" panose="02020603050405020304" pitchFamily="18" charset="0"/>
              </a:rPr>
              <a:t> level.</a:t>
            </a:r>
          </a:p>
          <a:p>
            <a:pPr algn="just">
              <a:lnSpc>
                <a:spcPct val="150000"/>
              </a:lnSpc>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1706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E0F1A-4F6B-27AA-DB2A-C739E1A43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74AA6-039C-A53E-51BF-399BB1FD772B}"/>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Executive Information System</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CEE219E-98CB-E08F-1410-BF7D47F28D0F}"/>
              </a:ext>
            </a:extLst>
          </p:cNvPr>
          <p:cNvSpPr>
            <a:spLocks noGrp="1"/>
          </p:cNvSpPr>
          <p:nvPr>
            <p:ph idx="1"/>
          </p:nvPr>
        </p:nvSpPr>
        <p:spPr>
          <a:xfrm>
            <a:off x="178676" y="851339"/>
            <a:ext cx="11778193" cy="5836844"/>
          </a:xfrm>
        </p:spPr>
        <p:txBody>
          <a:bodyPr>
            <a:normAutofit lnSpcReduction="10000"/>
          </a:bodyPr>
          <a:lstStyle/>
          <a:p>
            <a:pPr marL="0" indent="0" algn="just">
              <a:lnSpc>
                <a:spcPct val="150000"/>
              </a:lnSpc>
              <a:buNone/>
            </a:pPr>
            <a:r>
              <a:rPr lang="en-US" sz="2300" b="1" dirty="0">
                <a:latin typeface="Times New Roman" panose="02020603050405020304" pitchFamily="18" charset="0"/>
                <a:cs typeface="Times New Roman" panose="02020603050405020304" pitchFamily="18" charset="0"/>
              </a:rPr>
              <a:t>3) Status Access, Trend Analysis and Exception Reporting :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This permits executives to get the recent data on any key variable. Trend analysis supports the executive to study data over a given timeline. </a:t>
            </a:r>
          </a:p>
          <a:p>
            <a:pPr marL="0" indent="0" algn="just">
              <a:lnSpc>
                <a:spcPct val="150000"/>
              </a:lnSpc>
              <a:buNone/>
            </a:pPr>
            <a:r>
              <a:rPr lang="en-US" sz="2300" b="1" dirty="0">
                <a:latin typeface="Times New Roman" panose="02020603050405020304" pitchFamily="18" charset="0"/>
                <a:cs typeface="Times New Roman" panose="02020603050405020304" pitchFamily="18" charset="0"/>
              </a:rPr>
              <a:t>4) Navigation of Information :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This allows access of large amounts of data in a very short time span with accurate results. Forward and backward path access, skipping screens while accessing a selected part of the system are the examples of it.</a:t>
            </a:r>
          </a:p>
          <a:p>
            <a:pPr marL="0" indent="0" algn="just">
              <a:lnSpc>
                <a:spcPct val="150000"/>
              </a:lnSpc>
              <a:buNone/>
            </a:pPr>
            <a:r>
              <a:rPr lang="en-US" sz="2300" b="1" dirty="0">
                <a:latin typeface="Times New Roman" panose="02020603050405020304" pitchFamily="18" charset="0"/>
                <a:cs typeface="Times New Roman" panose="02020603050405020304" pitchFamily="18" charset="0"/>
              </a:rPr>
              <a:t>5) Presents Graphical, Tabular and/or Textual Information :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Terminal presentation of gathered information to executive users may be in various formats like textual formats, tabular and/or graphical.</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259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BC6B0-38F1-AA9B-559D-59048BE2A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8D850-AADB-6940-FFF2-7CE60ECC8AE7}"/>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Executive Information System</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161E423-D08E-1DC5-F17A-3A2623B81265}"/>
              </a:ext>
            </a:extLst>
          </p:cNvPr>
          <p:cNvSpPr>
            <a:spLocks noGrp="1"/>
          </p:cNvSpPr>
          <p:nvPr>
            <p:ph idx="1"/>
          </p:nvPr>
        </p:nvSpPr>
        <p:spPr>
          <a:xfrm>
            <a:off x="178676" y="851339"/>
            <a:ext cx="11778193" cy="5836844"/>
          </a:xfrm>
        </p:spPr>
        <p:txBody>
          <a:bodyPr>
            <a:normAutofit fontScale="92500" lnSpcReduction="10000"/>
          </a:bodyPr>
          <a:lstStyle/>
          <a:p>
            <a:pPr algn="just">
              <a:lnSpc>
                <a:spcPct val="150000"/>
              </a:lnSpc>
            </a:pPr>
            <a:r>
              <a:rPr lang="en-US" sz="2300" b="1" dirty="0">
                <a:latin typeface="Times New Roman" panose="02020603050405020304" pitchFamily="18" charset="0"/>
                <a:cs typeface="Times New Roman" panose="02020603050405020304" pitchFamily="18" charset="0"/>
              </a:rPr>
              <a:t>Advantages of EIS:</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Executive Support System or Executive Information System can be easily used by upper level executives for decision-making, as extensive computer knowledge is not required for this.</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It has trends analysis capability.</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Enhances the manager's leadership skills. </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It involves strategic control flexibility. </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Leads to healthy competition in the market place.</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An executive time horizon is increased. </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Leads to a better reporting system.</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Helps executives to get a better mental model of business.</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185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B864-4498-172C-73D9-67DA738E7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61C36-7F04-7D5A-7C6D-2E70B70E5729}"/>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Executive Information System</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7433168-82ED-9DC2-79EB-33AA7C545B8D}"/>
              </a:ext>
            </a:extLst>
          </p:cNvPr>
          <p:cNvSpPr>
            <a:spLocks noGrp="1"/>
          </p:cNvSpPr>
          <p:nvPr>
            <p:ph idx="1"/>
          </p:nvPr>
        </p:nvSpPr>
        <p:spPr>
          <a:xfrm>
            <a:off x="178676" y="851339"/>
            <a:ext cx="11778193" cy="5836844"/>
          </a:xfrm>
        </p:spPr>
        <p:txBody>
          <a:bodyPr>
            <a:normAutofit/>
          </a:bodyPr>
          <a:lstStyle/>
          <a:p>
            <a:pPr algn="just">
              <a:lnSpc>
                <a:spcPct val="150000"/>
              </a:lnSpc>
            </a:pPr>
            <a:r>
              <a:rPr lang="en-US" sz="2300" b="1" dirty="0">
                <a:latin typeface="Times New Roman" panose="02020603050405020304" pitchFamily="18" charset="0"/>
                <a:cs typeface="Times New Roman" panose="02020603050405020304" pitchFamily="18" charset="0"/>
              </a:rPr>
              <a:t>Disadvantages of EIS:</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Its functions are limited, as it cannot perform complex calculations.</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It is difficult to quantify the advantages and justify its implementation.</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Information overload is encountered by executives.</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Systems are prone to become slow, large and hard to manage.</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Keeping recent data is tough. </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Leads to less reliable and insecure data.</a:t>
            </a:r>
          </a:p>
          <a:p>
            <a:pPr algn="just">
              <a:lnSpc>
                <a:spcPct val="150000"/>
              </a:lnSpc>
              <a:buFont typeface="Courier New" panose="02070309020205020404" pitchFamily="49" charset="0"/>
              <a:buChar char="o"/>
            </a:pPr>
            <a:r>
              <a:rPr lang="en-US" sz="2300" dirty="0">
                <a:latin typeface="Times New Roman" panose="02020603050405020304" pitchFamily="18" charset="0"/>
                <a:cs typeface="Times New Roman" panose="02020603050405020304" pitchFamily="18" charset="0"/>
              </a:rPr>
              <a:t>Huge cost of implementation encountered by small scale </a:t>
            </a:r>
            <a:r>
              <a:rPr lang="en-US" sz="2300" dirty="0" err="1">
                <a:latin typeface="Times New Roman" panose="02020603050405020304" pitchFamily="18" charset="0"/>
                <a:cs typeface="Times New Roman" panose="02020603050405020304" pitchFamily="18" charset="0"/>
              </a:rPr>
              <a:t>organisations</a:t>
            </a:r>
            <a:r>
              <a:rPr lang="en-US" sz="2300" dirty="0">
                <a:latin typeface="Times New Roman" panose="02020603050405020304" pitchFamily="18" charset="0"/>
                <a:cs typeface="Times New Roman" panose="02020603050405020304" pitchFamily="18" charset="0"/>
              </a:rPr>
              <a:t>.</a:t>
            </a:r>
          </a:p>
          <a:p>
            <a:pPr algn="just">
              <a:lnSpc>
                <a:spcPct val="150000"/>
              </a:lnSpc>
            </a:pPr>
            <a:endParaRPr lang="en-US" sz="2300" dirty="0">
              <a:latin typeface="Times New Roman" panose="02020603050405020304" pitchFamily="18" charset="0"/>
              <a:cs typeface="Times New Roman" panose="02020603050405020304" pitchFamily="18" charset="0"/>
            </a:endParaRPr>
          </a:p>
          <a:p>
            <a:pPr algn="just">
              <a:lnSpc>
                <a:spcPct val="150000"/>
              </a:lnSpc>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187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2B01-4335-5E0D-3F30-7AA2A6B80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96F57-9A49-8423-D4F3-91EC1CC773B7}"/>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Enterprise Resource Planning:</a:t>
            </a:r>
            <a:endParaRPr lang="en-IN"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B31E93B-470D-F6D9-6B3E-1F8D710EDF3D}"/>
              </a:ext>
            </a:extLst>
          </p:cNvPr>
          <p:cNvPicPr>
            <a:picLocks noGrp="1" noChangeAspect="1"/>
          </p:cNvPicPr>
          <p:nvPr>
            <p:ph idx="1"/>
          </p:nvPr>
        </p:nvPicPr>
        <p:blipFill>
          <a:blip r:embed="rId2"/>
          <a:stretch>
            <a:fillRect/>
          </a:stretch>
        </p:blipFill>
        <p:spPr>
          <a:xfrm>
            <a:off x="1269125" y="977833"/>
            <a:ext cx="9406582" cy="5710349"/>
          </a:xfrm>
          <a:prstGeom prst="rect">
            <a:avLst/>
          </a:prstGeom>
        </p:spPr>
      </p:pic>
    </p:spTree>
    <p:extLst>
      <p:ext uri="{BB962C8B-B14F-4D97-AF65-F5344CB8AC3E}">
        <p14:creationId xmlns:p14="http://schemas.microsoft.com/office/powerpoint/2010/main" val="28599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AE12-AE8A-5B33-257C-D751701B7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91072-C6C5-34A6-7AD7-A7EBEF5F2333}"/>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ERP vs BI:</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9770406-3207-1BC7-A860-584357F93FB5}"/>
              </a:ext>
            </a:extLst>
          </p:cNvPr>
          <p:cNvSpPr>
            <a:spLocks noGrp="1"/>
          </p:cNvSpPr>
          <p:nvPr>
            <p:ph idx="1"/>
          </p:nvPr>
        </p:nvSpPr>
        <p:spPr>
          <a:xfrm>
            <a:off x="178676" y="851339"/>
            <a:ext cx="11778193" cy="5836844"/>
          </a:xfrm>
        </p:spPr>
        <p:txBody>
          <a:bodyPr>
            <a:normAutofit/>
          </a:bodyPr>
          <a:lstStyle/>
          <a:p>
            <a:pPr algn="just">
              <a:lnSpc>
                <a:spcPct val="150000"/>
              </a:lnSpc>
            </a:pPr>
            <a:r>
              <a:rPr lang="en-US" sz="2300" dirty="0">
                <a:latin typeface="Times New Roman" panose="02020603050405020304" pitchFamily="18" charset="0"/>
                <a:cs typeface="Times New Roman" panose="02020603050405020304" pitchFamily="18" charset="0"/>
              </a:rPr>
              <a:t>ERP (Enterprise Resource Planning) is an integrated software system used by organizations to manage and automate core business processes in a single centralized platform.</a:t>
            </a:r>
          </a:p>
          <a:p>
            <a:pPr algn="just">
              <a:lnSpc>
                <a:spcPct val="150000"/>
              </a:lnSpc>
            </a:pPr>
            <a:r>
              <a:rPr lang="en-US" sz="2300" dirty="0">
                <a:latin typeface="Times New Roman" panose="02020603050405020304" pitchFamily="18" charset="0"/>
                <a:cs typeface="Times New Roman" panose="02020603050405020304" pitchFamily="18" charset="0"/>
              </a:rPr>
              <a:t>It coordinates all the resources, information, and functions of a business across departments such as finance, HR, manufacturing, supply chain, and sales.</a:t>
            </a:r>
          </a:p>
          <a:p>
            <a:pPr algn="just">
              <a:lnSpc>
                <a:spcPct val="150000"/>
              </a:lnSpc>
            </a:pPr>
            <a:r>
              <a:rPr lang="en-US" sz="2300" dirty="0">
                <a:latin typeface="Times New Roman" panose="02020603050405020304" pitchFamily="18" charset="0"/>
                <a:cs typeface="Times New Roman" panose="02020603050405020304" pitchFamily="18" charset="0"/>
              </a:rPr>
              <a:t>On the other hand, BI solutions leverage the data stored in the ERP systems to unearth trends and patterns and generate actionable insights. They help users create robust reports and dashboards to gauge complex data and make better decisions.</a:t>
            </a:r>
          </a:p>
          <a:p>
            <a:pPr algn="just">
              <a:lnSpc>
                <a:spcPct val="150000"/>
              </a:lnSpc>
            </a:pPr>
            <a:r>
              <a:rPr lang="en-US" sz="2300" dirty="0">
                <a:latin typeface="Times New Roman" panose="02020603050405020304" pitchFamily="18" charset="0"/>
                <a:cs typeface="Times New Roman" panose="02020603050405020304" pitchFamily="18" charset="0"/>
              </a:rPr>
              <a:t>While ERP software lets users access company-wide data from a centralized location, BI tools thoroughly analyze this information to derive insights and make data-driven decisions. </a:t>
            </a:r>
          </a:p>
          <a:p>
            <a:pPr algn="just">
              <a:lnSpc>
                <a:spcPct val="150000"/>
              </a:lnSpc>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9159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F483-6E09-8D78-8CCA-96AB8C2D6DFC}"/>
            </a:ext>
          </a:extLst>
        </p:cNvPr>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27019D08-3CD2-8977-5B59-D2A1A4E962B3}"/>
              </a:ext>
            </a:extLst>
          </p:cNvPr>
          <p:cNvGraphicFramePr>
            <a:graphicFrameLocks noGrp="1"/>
          </p:cNvGraphicFramePr>
          <p:nvPr>
            <p:ph idx="1"/>
            <p:extLst>
              <p:ext uri="{D42A27DB-BD31-4B8C-83A1-F6EECF244321}">
                <p14:modId xmlns:p14="http://schemas.microsoft.com/office/powerpoint/2010/main" val="3993717466"/>
              </p:ext>
            </p:extLst>
          </p:nvPr>
        </p:nvGraphicFramePr>
        <p:xfrm>
          <a:off x="105103" y="687561"/>
          <a:ext cx="11866179" cy="6000622"/>
        </p:xfrm>
        <a:graphic>
          <a:graphicData uri="http://schemas.openxmlformats.org/drawingml/2006/table">
            <a:tbl>
              <a:tblPr/>
              <a:tblGrid>
                <a:gridCol w="2396359">
                  <a:extLst>
                    <a:ext uri="{9D8B030D-6E8A-4147-A177-3AD203B41FA5}">
                      <a16:colId xmlns:a16="http://schemas.microsoft.com/office/drawing/2014/main" val="1048918190"/>
                    </a:ext>
                  </a:extLst>
                </a:gridCol>
                <a:gridCol w="4690128">
                  <a:extLst>
                    <a:ext uri="{9D8B030D-6E8A-4147-A177-3AD203B41FA5}">
                      <a16:colId xmlns:a16="http://schemas.microsoft.com/office/drawing/2014/main" val="2657416382"/>
                    </a:ext>
                  </a:extLst>
                </a:gridCol>
                <a:gridCol w="4779692">
                  <a:extLst>
                    <a:ext uri="{9D8B030D-6E8A-4147-A177-3AD203B41FA5}">
                      <a16:colId xmlns:a16="http://schemas.microsoft.com/office/drawing/2014/main" val="3559304119"/>
                    </a:ext>
                  </a:extLst>
                </a:gridCol>
              </a:tblGrid>
              <a:tr h="416484">
                <a:tc>
                  <a:txBody>
                    <a:bodyPr/>
                    <a:lstStyle/>
                    <a:p>
                      <a:pPr algn="l">
                        <a:buNone/>
                      </a:pPr>
                      <a:r>
                        <a:rPr lang="en-IN" sz="2200" b="1">
                          <a:solidFill>
                            <a:srgbClr val="FFFFFF"/>
                          </a:solidFill>
                          <a:effectLst/>
                          <a:latin typeface="Times New Roman" panose="02020603050405020304" pitchFamily="18" charset="0"/>
                          <a:cs typeface="Times New Roman" panose="02020603050405020304" pitchFamily="18" charset="0"/>
                        </a:rPr>
                        <a:t>Aspect</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3498DB"/>
                    </a:solidFill>
                  </a:tcPr>
                </a:tc>
                <a:tc>
                  <a:txBody>
                    <a:bodyPr/>
                    <a:lstStyle/>
                    <a:p>
                      <a:pPr algn="l">
                        <a:buNone/>
                      </a:pPr>
                      <a:r>
                        <a:rPr lang="en-IN" sz="2200" b="1">
                          <a:solidFill>
                            <a:srgbClr val="FFFFFF"/>
                          </a:solidFill>
                          <a:effectLst/>
                          <a:latin typeface="Times New Roman" panose="02020603050405020304" pitchFamily="18" charset="0"/>
                          <a:cs typeface="Times New Roman" panose="02020603050405020304" pitchFamily="18" charset="0"/>
                        </a:rPr>
                        <a:t>ERP</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3498DB"/>
                    </a:solidFill>
                  </a:tcPr>
                </a:tc>
                <a:tc>
                  <a:txBody>
                    <a:bodyPr/>
                    <a:lstStyle/>
                    <a:p>
                      <a:pPr algn="l">
                        <a:buNone/>
                      </a:pPr>
                      <a:r>
                        <a:rPr lang="en-IN" sz="2200" b="1" dirty="0">
                          <a:solidFill>
                            <a:srgbClr val="FFFFFF"/>
                          </a:solidFill>
                          <a:effectLst/>
                          <a:latin typeface="Times New Roman" panose="02020603050405020304" pitchFamily="18" charset="0"/>
                          <a:cs typeface="Times New Roman" panose="02020603050405020304" pitchFamily="18" charset="0"/>
                        </a:rPr>
                        <a:t>BI</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3498DB"/>
                    </a:solidFill>
                  </a:tcPr>
                </a:tc>
                <a:extLst>
                  <a:ext uri="{0D108BD9-81ED-4DB2-BD59-A6C34878D82A}">
                    <a16:rowId xmlns:a16="http://schemas.microsoft.com/office/drawing/2014/main" val="4059853530"/>
                  </a:ext>
                </a:extLst>
              </a:tr>
              <a:tr h="1943238">
                <a:tc>
                  <a:txBody>
                    <a:bodyPr/>
                    <a:lstStyle/>
                    <a:p>
                      <a:pPr algn="l">
                        <a:buNone/>
                      </a:pPr>
                      <a:r>
                        <a:rPr lang="en-IN" sz="2200" b="1">
                          <a:effectLst/>
                          <a:latin typeface="Times New Roman" panose="02020603050405020304" pitchFamily="18" charset="0"/>
                          <a:cs typeface="Times New Roman" panose="02020603050405020304" pitchFamily="18" charset="0"/>
                        </a:rPr>
                        <a:t>Scope and Focus</a:t>
                      </a:r>
                      <a:endParaRPr lang="en-IN" sz="2200">
                        <a:effectLst/>
                        <a:latin typeface="Times New Roman" panose="02020603050405020304" pitchFamily="18" charset="0"/>
                        <a:cs typeface="Times New Roman" panose="02020603050405020304" pitchFamily="18" charset="0"/>
                      </a:endParaRP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ERP oversees a number of administrative tasks, including payroll, inventory control, reporting, and hiring.</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In order to assist businesses in making defensible decisions based on data insights, business intelligence (BI) mostly focuses on reporting and data analysis.</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extLst>
                  <a:ext uri="{0D108BD9-81ED-4DB2-BD59-A6C34878D82A}">
                    <a16:rowId xmlns:a16="http://schemas.microsoft.com/office/drawing/2014/main" val="243055589"/>
                  </a:ext>
                </a:extLst>
              </a:tr>
              <a:tr h="1906614">
                <a:tc>
                  <a:txBody>
                    <a:bodyPr/>
                    <a:lstStyle/>
                    <a:p>
                      <a:pPr algn="l">
                        <a:buNone/>
                      </a:pPr>
                      <a:r>
                        <a:rPr lang="en-IN" sz="2200" b="1">
                          <a:effectLst/>
                          <a:latin typeface="Times New Roman" panose="02020603050405020304" pitchFamily="18" charset="0"/>
                          <a:cs typeface="Times New Roman" panose="02020603050405020304" pitchFamily="18" charset="0"/>
                        </a:rPr>
                        <a:t>Decision-Making Support</a:t>
                      </a:r>
                      <a:endParaRPr lang="en-IN" sz="2200">
                        <a:effectLst/>
                        <a:latin typeface="Times New Roman" panose="02020603050405020304" pitchFamily="18" charset="0"/>
                        <a:cs typeface="Times New Roman" panose="02020603050405020304" pitchFamily="18" charset="0"/>
                      </a:endParaRP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sz="2200">
                          <a:effectLst/>
                          <a:latin typeface="Times New Roman" panose="02020603050405020304" pitchFamily="18" charset="0"/>
                          <a:cs typeface="Times New Roman" panose="02020603050405020304" pitchFamily="18" charset="0"/>
                        </a:rPr>
                        <a:t>ERP systems are intended to combine several corporate departments and processes, including finance, human resources, supply chain, and manufacturing.</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The primary purpose of BI is to support decision-making through data analysis.</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096476701"/>
                  </a:ext>
                </a:extLst>
              </a:tr>
              <a:tr h="1734286">
                <a:tc>
                  <a:txBody>
                    <a:bodyPr/>
                    <a:lstStyle/>
                    <a:p>
                      <a:pPr algn="l">
                        <a:buNone/>
                      </a:pPr>
                      <a:r>
                        <a:rPr lang="en-IN" sz="2200" b="1">
                          <a:effectLst/>
                          <a:latin typeface="Times New Roman" panose="02020603050405020304" pitchFamily="18" charset="0"/>
                          <a:cs typeface="Times New Roman" panose="02020603050405020304" pitchFamily="18" charset="0"/>
                        </a:rPr>
                        <a:t>Strategic-Level vs. Operational-Level Analytics</a:t>
                      </a:r>
                      <a:endParaRPr lang="en-IN" sz="2200">
                        <a:effectLst/>
                        <a:latin typeface="Times New Roman" panose="02020603050405020304" pitchFamily="18" charset="0"/>
                        <a:cs typeface="Times New Roman" panose="02020603050405020304" pitchFamily="18" charset="0"/>
                      </a:endParaRP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tc>
                  <a:txBody>
                    <a:bodyPr/>
                    <a:lstStyle/>
                    <a:p>
                      <a:pPr algn="l">
                        <a:buNone/>
                      </a:pPr>
                      <a:r>
                        <a:rPr lang="en-US" sz="2200">
                          <a:effectLst/>
                          <a:latin typeface="Times New Roman" panose="02020603050405020304" pitchFamily="18" charset="0"/>
                          <a:cs typeface="Times New Roman" panose="02020603050405020304" pitchFamily="18" charset="0"/>
                        </a:rPr>
                        <a:t>ERP is an operational system that provides the company with an accurate operational picture by tracking both operational and transactional data.</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BI tools assist strategic decision-making by providing an overview of an organization’s performance at a high level.</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2F9FF"/>
                    </a:solidFill>
                  </a:tcPr>
                </a:tc>
                <a:extLst>
                  <a:ext uri="{0D108BD9-81ED-4DB2-BD59-A6C34878D82A}">
                    <a16:rowId xmlns:a16="http://schemas.microsoft.com/office/drawing/2014/main" val="1410438694"/>
                  </a:ext>
                </a:extLst>
              </a:tr>
            </a:tbl>
          </a:graphicData>
        </a:graphic>
      </p:graphicFrame>
      <p:sp>
        <p:nvSpPr>
          <p:cNvPr id="7" name="Title 1">
            <a:extLst>
              <a:ext uri="{FF2B5EF4-FFF2-40B4-BE49-F238E27FC236}">
                <a16:creationId xmlns:a16="http://schemas.microsoft.com/office/drawing/2014/main" id="{E83AFBE5-FA93-1BE0-5102-3EF274B5045B}"/>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ERP vs BI:</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386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C3C7-8059-DD73-3B46-5EDFB5B13938}"/>
            </a:ext>
          </a:extLst>
        </p:cNvPr>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3879AFB7-2D1A-1B44-36B8-EBEE08847235}"/>
              </a:ext>
            </a:extLst>
          </p:cNvPr>
          <p:cNvGraphicFramePr>
            <a:graphicFrameLocks noGrp="1"/>
          </p:cNvGraphicFramePr>
          <p:nvPr>
            <p:ph idx="1"/>
            <p:extLst>
              <p:ext uri="{D42A27DB-BD31-4B8C-83A1-F6EECF244321}">
                <p14:modId xmlns:p14="http://schemas.microsoft.com/office/powerpoint/2010/main" val="3129505801"/>
              </p:ext>
            </p:extLst>
          </p:nvPr>
        </p:nvGraphicFramePr>
        <p:xfrm>
          <a:off x="179388" y="850900"/>
          <a:ext cx="11866179" cy="5308162"/>
        </p:xfrm>
        <a:graphic>
          <a:graphicData uri="http://schemas.openxmlformats.org/drawingml/2006/table">
            <a:tbl>
              <a:tblPr/>
              <a:tblGrid>
                <a:gridCol w="2396359">
                  <a:extLst>
                    <a:ext uri="{9D8B030D-6E8A-4147-A177-3AD203B41FA5}">
                      <a16:colId xmlns:a16="http://schemas.microsoft.com/office/drawing/2014/main" val="3178019629"/>
                    </a:ext>
                  </a:extLst>
                </a:gridCol>
                <a:gridCol w="4690128">
                  <a:extLst>
                    <a:ext uri="{9D8B030D-6E8A-4147-A177-3AD203B41FA5}">
                      <a16:colId xmlns:a16="http://schemas.microsoft.com/office/drawing/2014/main" val="2001927835"/>
                    </a:ext>
                  </a:extLst>
                </a:gridCol>
                <a:gridCol w="4779692">
                  <a:extLst>
                    <a:ext uri="{9D8B030D-6E8A-4147-A177-3AD203B41FA5}">
                      <a16:colId xmlns:a16="http://schemas.microsoft.com/office/drawing/2014/main" val="2651146504"/>
                    </a:ext>
                  </a:extLst>
                </a:gridCol>
              </a:tblGrid>
              <a:tr h="1101090">
                <a:tc>
                  <a:txBody>
                    <a:bodyPr/>
                    <a:lstStyle/>
                    <a:p>
                      <a:pPr algn="l">
                        <a:buNone/>
                      </a:pPr>
                      <a:r>
                        <a:rPr lang="en-IN" sz="2200" b="1" dirty="0">
                          <a:solidFill>
                            <a:srgbClr val="FFFFFF"/>
                          </a:solidFill>
                          <a:effectLst/>
                          <a:latin typeface="Times New Roman" panose="02020603050405020304" pitchFamily="18" charset="0"/>
                          <a:cs typeface="Times New Roman" panose="02020603050405020304" pitchFamily="18" charset="0"/>
                        </a:rPr>
                        <a:t>Aspect</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chemeClr val="accent5"/>
                    </a:solidFill>
                  </a:tcPr>
                </a:tc>
                <a:tc>
                  <a:txBody>
                    <a:bodyPr/>
                    <a:lstStyle/>
                    <a:p>
                      <a:pPr algn="l">
                        <a:buNone/>
                      </a:pPr>
                      <a:r>
                        <a:rPr lang="en-IN" sz="2200" b="1">
                          <a:solidFill>
                            <a:srgbClr val="FFFFFF"/>
                          </a:solidFill>
                          <a:effectLst/>
                          <a:latin typeface="Times New Roman" panose="02020603050405020304" pitchFamily="18" charset="0"/>
                          <a:cs typeface="Times New Roman" panose="02020603050405020304" pitchFamily="18" charset="0"/>
                        </a:rPr>
                        <a:t>ERP</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chemeClr val="accent5"/>
                    </a:solidFill>
                  </a:tcPr>
                </a:tc>
                <a:tc>
                  <a:txBody>
                    <a:bodyPr/>
                    <a:lstStyle/>
                    <a:p>
                      <a:pPr algn="l">
                        <a:buNone/>
                      </a:pPr>
                      <a:r>
                        <a:rPr lang="en-IN" sz="2200" b="1" dirty="0">
                          <a:solidFill>
                            <a:srgbClr val="FFFFFF"/>
                          </a:solidFill>
                          <a:effectLst/>
                          <a:latin typeface="Times New Roman" panose="02020603050405020304" pitchFamily="18" charset="0"/>
                          <a:cs typeface="Times New Roman" panose="02020603050405020304" pitchFamily="18" charset="0"/>
                        </a:rPr>
                        <a:t>BI</a:t>
                      </a:r>
                    </a:p>
                  </a:txBody>
                  <a:tcPr marL="37358" marR="37358" marT="14009" marB="14009"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chemeClr val="accent5"/>
                    </a:solidFill>
                  </a:tcPr>
                </a:tc>
                <a:extLst>
                  <a:ext uri="{0D108BD9-81ED-4DB2-BD59-A6C34878D82A}">
                    <a16:rowId xmlns:a16="http://schemas.microsoft.com/office/drawing/2014/main" val="2954193757"/>
                  </a:ext>
                </a:extLst>
              </a:tr>
              <a:tr h="1687465">
                <a:tc>
                  <a:txBody>
                    <a:bodyPr/>
                    <a:lstStyle/>
                    <a:p>
                      <a:pPr algn="l">
                        <a:buNone/>
                      </a:pPr>
                      <a:r>
                        <a:rPr lang="en-IN" sz="2200" b="1" dirty="0">
                          <a:effectLst/>
                          <a:latin typeface="Times New Roman" panose="02020603050405020304" pitchFamily="18" charset="0"/>
                          <a:cs typeface="Times New Roman" panose="02020603050405020304" pitchFamily="18" charset="0"/>
                        </a:rPr>
                        <a:t>OLAP vs. OLTP</a:t>
                      </a:r>
                      <a:endParaRPr lang="en-IN" sz="2200" dirty="0">
                        <a:effectLst/>
                        <a:latin typeface="Times New Roman" panose="02020603050405020304" pitchFamily="18" charset="0"/>
                        <a:cs typeface="Times New Roman" panose="02020603050405020304" pitchFamily="18" charset="0"/>
                      </a:endParaRP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sz="2200">
                          <a:effectLst/>
                          <a:latin typeface="Times New Roman" panose="02020603050405020304" pitchFamily="18" charset="0"/>
                          <a:cs typeface="Times New Roman" panose="02020603050405020304" pitchFamily="18" charset="0"/>
                        </a:rPr>
                        <a:t>ERP is an Online Transaction Processing (OLTP) system that takes up as little space as possible while efficiently collecting transactions in real-time.</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BI is an Online Analytical Processing (OLAP) solution with robust analysis capabilities such as dashboards, scorecards, and enhanced visualization.</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95718997"/>
                  </a:ext>
                </a:extLst>
              </a:tr>
              <a:tr h="2519607">
                <a:tc>
                  <a:txBody>
                    <a:bodyPr/>
                    <a:lstStyle/>
                    <a:p>
                      <a:pPr algn="l">
                        <a:buNone/>
                      </a:pPr>
                      <a:r>
                        <a:rPr lang="en-IN" sz="2200" b="1">
                          <a:effectLst/>
                          <a:latin typeface="Times New Roman" panose="02020603050405020304" pitchFamily="18" charset="0"/>
                          <a:cs typeface="Times New Roman" panose="02020603050405020304" pitchFamily="18" charset="0"/>
                        </a:rPr>
                        <a:t>Agility vs. Efficiency</a:t>
                      </a:r>
                      <a:endParaRPr lang="en-IN" sz="2200">
                        <a:effectLst/>
                        <a:latin typeface="Times New Roman" panose="02020603050405020304" pitchFamily="18" charset="0"/>
                        <a:cs typeface="Times New Roman" panose="02020603050405020304" pitchFamily="18" charset="0"/>
                      </a:endParaRP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9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ERP solutions boost corporate and business process efficiencies in a variety of ways, including increased departmental collaboration, reduced IT expenditures, and quick data access.</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9FF"/>
                    </a:solidFill>
                  </a:tcPr>
                </a:tc>
                <a:tc>
                  <a:txBody>
                    <a:bodyPr/>
                    <a:lstStyle/>
                    <a:p>
                      <a:pPr algn="l">
                        <a:buNone/>
                      </a:pPr>
                      <a:r>
                        <a:rPr lang="en-US" sz="2200" dirty="0">
                          <a:effectLst/>
                          <a:latin typeface="Times New Roman" panose="02020603050405020304" pitchFamily="18" charset="0"/>
                          <a:cs typeface="Times New Roman" panose="02020603050405020304" pitchFamily="18" charset="0"/>
                        </a:rPr>
                        <a:t>BI helps future-oriented organizations become more agile by providing predictive analytics capabilities, enabling them to make strategic decisions based on future market conditions.</a:t>
                      </a:r>
                    </a:p>
                  </a:txBody>
                  <a:tcPr marL="37358" marR="37358" marT="9340" marB="934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9FF"/>
                    </a:solidFill>
                  </a:tcPr>
                </a:tc>
                <a:extLst>
                  <a:ext uri="{0D108BD9-81ED-4DB2-BD59-A6C34878D82A}">
                    <a16:rowId xmlns:a16="http://schemas.microsoft.com/office/drawing/2014/main" val="242969756"/>
                  </a:ext>
                </a:extLst>
              </a:tr>
            </a:tbl>
          </a:graphicData>
        </a:graphic>
      </p:graphicFrame>
      <p:sp>
        <p:nvSpPr>
          <p:cNvPr id="7" name="Title 1">
            <a:extLst>
              <a:ext uri="{FF2B5EF4-FFF2-40B4-BE49-F238E27FC236}">
                <a16:creationId xmlns:a16="http://schemas.microsoft.com/office/drawing/2014/main" id="{31E2A645-907A-F6C9-BB04-996A9E116A0F}"/>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ERP vs BI:</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204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6E427-A28E-7E17-44C6-9F2EB6E4B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3066C-BD53-5E2C-6D19-4990D91320FA}"/>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Framework of BI:</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9764B62-C4A6-6A99-EBAD-8AA0BA6DD181}"/>
              </a:ext>
            </a:extLst>
          </p:cNvPr>
          <p:cNvSpPr>
            <a:spLocks noGrp="1"/>
          </p:cNvSpPr>
          <p:nvPr>
            <p:ph idx="1"/>
          </p:nvPr>
        </p:nvSpPr>
        <p:spPr>
          <a:xfrm>
            <a:off x="178676" y="851339"/>
            <a:ext cx="11778193" cy="5836844"/>
          </a:xfrm>
        </p:spPr>
        <p:txBody>
          <a:bodyPr>
            <a:normAutofit/>
          </a:bodyPr>
          <a:lstStyle/>
          <a:p>
            <a:pPr algn="just">
              <a:lnSpc>
                <a:spcPct val="150000"/>
              </a:lnSpc>
            </a:pPr>
            <a:r>
              <a:rPr lang="en-US" sz="2300" dirty="0">
                <a:latin typeface="Times New Roman" panose="02020603050405020304" pitchFamily="18" charset="0"/>
                <a:cs typeface="Times New Roman" panose="02020603050405020304" pitchFamily="18" charset="0"/>
              </a:rPr>
              <a:t>A business intelligence framework is a strategic approach to conducting business intelligence for better decision-making. </a:t>
            </a:r>
          </a:p>
          <a:p>
            <a:pPr algn="just">
              <a:lnSpc>
                <a:spcPct val="150000"/>
              </a:lnSpc>
            </a:pPr>
            <a:r>
              <a:rPr lang="en-US" sz="2300" dirty="0">
                <a:latin typeface="Times New Roman" panose="02020603050405020304" pitchFamily="18" charset="0"/>
                <a:cs typeface="Times New Roman" panose="02020603050405020304" pitchFamily="18" charset="0"/>
              </a:rPr>
              <a:t>It helps to ensure that all relevant data is brought to bear, that data is clean and validated, and that the data is being applied in context. </a:t>
            </a:r>
          </a:p>
          <a:p>
            <a:pPr algn="just">
              <a:lnSpc>
                <a:spcPct val="150000"/>
              </a:lnSpc>
            </a:pPr>
            <a:r>
              <a:rPr lang="en-US" sz="2300" dirty="0">
                <a:latin typeface="Times New Roman" panose="02020603050405020304" pitchFamily="18" charset="0"/>
                <a:cs typeface="Times New Roman" panose="02020603050405020304" pitchFamily="18" charset="0"/>
              </a:rPr>
              <a:t>Ultimately, a business intelligence framework is a process that allows you to make the most of your data to find optimal solutions to business problems and quickly take advantage of opportunities as they present themselves.</a:t>
            </a:r>
          </a:p>
          <a:p>
            <a:pPr algn="just">
              <a:lnSpc>
                <a:spcPct val="150000"/>
              </a:lnSpc>
            </a:pPr>
            <a:r>
              <a:rPr lang="en-US" sz="2300" dirty="0">
                <a:latin typeface="Times New Roman" panose="02020603050405020304" pitchFamily="18" charset="0"/>
                <a:cs typeface="Times New Roman" panose="02020603050405020304" pitchFamily="18" charset="0"/>
              </a:rPr>
              <a:t>The BI Framework describes the structured flow of how data moves from different sources to analytical tools and finally into decision-making dashboards and reports.</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44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51DF-CFA4-4711-4592-3BF5C988E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9BFE8-2E22-D888-F466-345DF8D7BEDC}"/>
              </a:ext>
            </a:extLst>
          </p:cNvPr>
          <p:cNvSpPr>
            <a:spLocks noGrp="1"/>
          </p:cNvSpPr>
          <p:nvPr>
            <p:ph type="title"/>
          </p:nvPr>
        </p:nvSpPr>
        <p:spPr>
          <a:xfrm>
            <a:off x="94594" y="0"/>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Framework of BI:</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32AF06F-A7ED-2D67-5024-B46EA0DB85AB}"/>
              </a:ext>
            </a:extLst>
          </p:cNvPr>
          <p:cNvSpPr>
            <a:spLocks noGrp="1"/>
          </p:cNvSpPr>
          <p:nvPr>
            <p:ph idx="1"/>
          </p:nvPr>
        </p:nvSpPr>
        <p:spPr>
          <a:xfrm>
            <a:off x="178676" y="517744"/>
            <a:ext cx="11778193" cy="6170439"/>
          </a:xfrm>
        </p:spPr>
        <p:txBody>
          <a:bodyPr>
            <a:normAutofit fontScale="77500" lnSpcReduction="20000"/>
          </a:bodyPr>
          <a:lstStyle/>
          <a:p>
            <a:pPr algn="just">
              <a:lnSpc>
                <a:spcPct val="150000"/>
              </a:lnSpc>
            </a:pPr>
            <a:r>
              <a:rPr lang="en-US" sz="3100" dirty="0">
                <a:latin typeface="Times New Roman" panose="02020603050405020304" pitchFamily="18" charset="0"/>
                <a:cs typeface="Times New Roman" panose="02020603050405020304" pitchFamily="18" charset="0"/>
              </a:rPr>
              <a:t>It shows the layers and components required to convert raw data into business insights.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Data Sources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ETL (Extract–Transform–Load)</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Data Warehouse / Data Marts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Analytics &amp; OLAP Layer</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Reporting &amp; Dashboards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	Decision Making</a:t>
            </a:r>
          </a:p>
        </p:txBody>
      </p:sp>
    </p:spTree>
    <p:extLst>
      <p:ext uri="{BB962C8B-B14F-4D97-AF65-F5344CB8AC3E}">
        <p14:creationId xmlns:p14="http://schemas.microsoft.com/office/powerpoint/2010/main" val="1493859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DB21-78D6-BC3D-F287-CA503C561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0D742-EA87-6BD3-7722-3D80D0F9C56C}"/>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Framework of BI:</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C428B47-01E5-B7FA-40A2-2C852D10C66C}"/>
              </a:ext>
            </a:extLst>
          </p:cNvPr>
          <p:cNvSpPr>
            <a:spLocks noGrp="1"/>
          </p:cNvSpPr>
          <p:nvPr>
            <p:ph idx="1"/>
          </p:nvPr>
        </p:nvSpPr>
        <p:spPr>
          <a:xfrm>
            <a:off x="178676" y="851339"/>
            <a:ext cx="11778193" cy="5836844"/>
          </a:xfrm>
        </p:spPr>
        <p:txBody>
          <a:bodyPr>
            <a:normAutofit lnSpcReduction="10000"/>
          </a:bodyPr>
          <a:lstStyle/>
          <a:p>
            <a:pPr algn="just">
              <a:lnSpc>
                <a:spcPct val="150000"/>
              </a:lnSpc>
            </a:pPr>
            <a:r>
              <a:rPr lang="en-US" sz="2300" b="1" dirty="0">
                <a:latin typeface="Times New Roman" panose="02020603050405020304" pitchFamily="18" charset="0"/>
                <a:cs typeface="Times New Roman" panose="02020603050405020304" pitchFamily="18" charset="0"/>
              </a:rPr>
              <a:t>Data Sources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Contains raw data from multiple systems. Data may be structured or unstructured. Raw operational data is collected from internal and external sources.</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Examples: ERP, CRM, databases, files, web data</a:t>
            </a:r>
          </a:p>
          <a:p>
            <a:pPr algn="just">
              <a:lnSpc>
                <a:spcPct val="150000"/>
              </a:lnSpc>
            </a:pPr>
            <a:r>
              <a:rPr lang="en-US" sz="2300" b="1" dirty="0">
                <a:latin typeface="Times New Roman" panose="02020603050405020304" pitchFamily="18" charset="0"/>
                <a:cs typeface="Times New Roman" panose="02020603050405020304" pitchFamily="18" charset="0"/>
              </a:rPr>
              <a:t>ETL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Extracts data from sources, transforms (cleans + standardizes) and loads into warehouse. ETL ensures data quality and consistency before storage.</a:t>
            </a:r>
          </a:p>
          <a:p>
            <a:pPr algn="just">
              <a:lnSpc>
                <a:spcPct val="150000"/>
              </a:lnSpc>
            </a:pPr>
            <a:r>
              <a:rPr lang="en-US" sz="2300" b="1" dirty="0">
                <a:latin typeface="Times New Roman" panose="02020603050405020304" pitchFamily="18" charset="0"/>
                <a:cs typeface="Times New Roman" panose="02020603050405020304" pitchFamily="18" charset="0"/>
              </a:rPr>
              <a:t>Data Warehouse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A data warehouse stores integrated, subject-oriented, time-variant data for decision support.. Stores historical data. Optimized for analysis</a:t>
            </a:r>
          </a:p>
        </p:txBody>
      </p:sp>
    </p:spTree>
    <p:extLst>
      <p:ext uri="{BB962C8B-B14F-4D97-AF65-F5344CB8AC3E}">
        <p14:creationId xmlns:p14="http://schemas.microsoft.com/office/powerpoint/2010/main" val="3218835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1791D-7BD8-69B4-D9D5-79EB1639E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53DB4-63D8-DA46-0804-B4AF4E51809A}"/>
              </a:ext>
            </a:extLst>
          </p:cNvPr>
          <p:cNvSpPr>
            <a:spLocks noGrp="1"/>
          </p:cNvSpPr>
          <p:nvPr>
            <p:ph type="title"/>
          </p:nvPr>
        </p:nvSpPr>
        <p:spPr>
          <a:xfrm>
            <a:off x="178676" y="169817"/>
            <a:ext cx="11080531" cy="517744"/>
          </a:xfrm>
        </p:spPr>
        <p:txBody>
          <a:bodyPr>
            <a:normAutofit fontScale="90000"/>
          </a:bodyPr>
          <a:lstStyle/>
          <a:p>
            <a:r>
              <a:rPr lang="en-US" sz="4000" b="1" dirty="0">
                <a:latin typeface="Times New Roman" panose="02020603050405020304" pitchFamily="18" charset="0"/>
                <a:cs typeface="Times New Roman" panose="02020603050405020304" pitchFamily="18" charset="0"/>
              </a:rPr>
              <a:t>Framework of BI:</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35DB4E6-75DE-9F87-5D40-8D06FB2E233B}"/>
              </a:ext>
            </a:extLst>
          </p:cNvPr>
          <p:cNvSpPr>
            <a:spLocks noGrp="1"/>
          </p:cNvSpPr>
          <p:nvPr>
            <p:ph idx="1"/>
          </p:nvPr>
        </p:nvSpPr>
        <p:spPr>
          <a:xfrm>
            <a:off x="178676" y="851339"/>
            <a:ext cx="11778193" cy="5836844"/>
          </a:xfrm>
        </p:spPr>
        <p:txBody>
          <a:bodyPr>
            <a:normAutofit/>
          </a:bodyPr>
          <a:lstStyle/>
          <a:p>
            <a:pPr algn="just">
              <a:lnSpc>
                <a:spcPct val="150000"/>
              </a:lnSpc>
            </a:pPr>
            <a:r>
              <a:rPr lang="en-IN" sz="2300" b="1" dirty="0">
                <a:latin typeface="Times New Roman" panose="02020603050405020304" pitchFamily="18" charset="0"/>
                <a:cs typeface="Times New Roman" panose="02020603050405020304" pitchFamily="18" charset="0"/>
              </a:rPr>
              <a:t>Analytics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Analytical tools convert stored data into patterns and trends. It is responsible for OLAP operations, Data mining, Statistical analysis and Predictive modeling.</a:t>
            </a:r>
          </a:p>
          <a:p>
            <a:pPr algn="just">
              <a:lnSpc>
                <a:spcPct val="150000"/>
              </a:lnSpc>
            </a:pPr>
            <a:r>
              <a:rPr lang="en-IN" sz="2300" b="1" dirty="0">
                <a:latin typeface="Times New Roman" panose="02020603050405020304" pitchFamily="18" charset="0"/>
                <a:cs typeface="Times New Roman" panose="02020603050405020304" pitchFamily="18" charset="0"/>
              </a:rPr>
              <a:t>Presentation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Insights are presented through interactive visual reports. It contains  Dashboards, Reports, Scorecards and Visual charts.</a:t>
            </a:r>
          </a:p>
          <a:p>
            <a:pPr algn="just">
              <a:lnSpc>
                <a:spcPct val="150000"/>
              </a:lnSpc>
            </a:pPr>
            <a:r>
              <a:rPr lang="en-US" sz="2300" b="1" dirty="0">
                <a:latin typeface="Times New Roman" panose="02020603050405020304" pitchFamily="18" charset="0"/>
                <a:cs typeface="Times New Roman" panose="02020603050405020304" pitchFamily="18" charset="0"/>
              </a:rPr>
              <a:t>Decision Layer</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Managers and executives use insights. Strategic &amp; tactical decisions are taken. Final insights support data-driven decision making.</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976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70BC-0D36-FFD2-716E-C7DF49831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1A430-A397-FE14-C828-DEE35EB8078D}"/>
              </a:ext>
            </a:extLst>
          </p:cNvPr>
          <p:cNvSpPr>
            <a:spLocks noGrp="1"/>
          </p:cNvSpPr>
          <p:nvPr>
            <p:ph type="title"/>
          </p:nvPr>
        </p:nvSpPr>
        <p:spPr>
          <a:xfrm>
            <a:off x="178676" y="96245"/>
            <a:ext cx="11080531" cy="345190"/>
          </a:xfrm>
        </p:spPr>
        <p:txBody>
          <a:bodyPr>
            <a:noAutofit/>
          </a:bodyPr>
          <a:lstStyle/>
          <a:p>
            <a:r>
              <a:rPr lang="en-US" sz="3200" b="1" dirty="0">
                <a:latin typeface="Times New Roman" panose="02020603050405020304" pitchFamily="18" charset="0"/>
                <a:cs typeface="Times New Roman" panose="02020603050405020304" pitchFamily="18" charset="0"/>
              </a:rPr>
              <a:t>Types of BI users:</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61CBD56-E4D7-8E2F-2041-EA603F648F09}"/>
              </a:ext>
            </a:extLst>
          </p:cNvPr>
          <p:cNvSpPr>
            <a:spLocks noGrp="1"/>
          </p:cNvSpPr>
          <p:nvPr>
            <p:ph idx="1"/>
          </p:nvPr>
        </p:nvSpPr>
        <p:spPr>
          <a:xfrm>
            <a:off x="178677" y="557048"/>
            <a:ext cx="11771586" cy="6204707"/>
          </a:xfrm>
        </p:spPr>
        <p:txBody>
          <a:bodyPr>
            <a:normAutofit fontScale="85000" lnSpcReduction="20000"/>
          </a:bodyPr>
          <a:lstStyle/>
          <a:p>
            <a:pPr marL="0" indent="0" algn="just">
              <a:lnSpc>
                <a:spcPct val="150000"/>
              </a:lnSpc>
              <a:buNone/>
            </a:pPr>
            <a:r>
              <a:rPr lang="en-US" sz="2300" dirty="0">
                <a:latin typeface="Times New Roman" panose="02020603050405020304" pitchFamily="18" charset="0"/>
                <a:cs typeface="Times New Roman" panose="02020603050405020304" pitchFamily="18" charset="0"/>
              </a:rPr>
              <a:t>Within BI, there are four key types of users, each interacting with the system in different ways based on their roles and responsibilities: </a:t>
            </a:r>
          </a:p>
          <a:p>
            <a:pPr marL="457200" indent="-457200" algn="just">
              <a:lnSpc>
                <a:spcPct val="150000"/>
              </a:lnSpc>
              <a:buAutoNum type="arabicPeriod"/>
            </a:pPr>
            <a:r>
              <a:rPr lang="en-US" sz="2300" b="1" dirty="0">
                <a:latin typeface="Times New Roman" panose="02020603050405020304" pitchFamily="18" charset="0"/>
                <a:cs typeface="Times New Roman" panose="02020603050405020304" pitchFamily="18" charset="0"/>
              </a:rPr>
              <a:t>Executive Users: </a:t>
            </a:r>
            <a:r>
              <a:rPr lang="en-US" sz="2300" dirty="0">
                <a:latin typeface="Times New Roman" panose="02020603050405020304" pitchFamily="18" charset="0"/>
                <a:cs typeface="Times New Roman" panose="02020603050405020304" pitchFamily="18" charset="0"/>
              </a:rPr>
              <a:t>These high-level decision-makers (e.g., CEOs, CTOs) use BI tools to monitor key performance indicators (KPIs) and strategic metrics through high-level summaries, dashboards, and visualizations. Their focus is on organizational health and progress toward strategic goals. </a:t>
            </a:r>
          </a:p>
          <a:p>
            <a:pPr marL="457200" indent="-457200" algn="just">
              <a:lnSpc>
                <a:spcPct val="150000"/>
              </a:lnSpc>
              <a:buAutoNum type="arabicPeriod"/>
            </a:pPr>
            <a:r>
              <a:rPr lang="en-US" sz="2300" b="1" dirty="0">
                <a:latin typeface="Times New Roman" panose="02020603050405020304" pitchFamily="18" charset="0"/>
                <a:cs typeface="Times New Roman" panose="02020603050405020304" pitchFamily="18" charset="0"/>
              </a:rPr>
              <a:t>Analytical Users: </a:t>
            </a:r>
            <a:r>
              <a:rPr lang="en-US" sz="2300" dirty="0">
                <a:latin typeface="Times New Roman" panose="02020603050405020304" pitchFamily="18" charset="0"/>
                <a:cs typeface="Times New Roman" panose="02020603050405020304" pitchFamily="18" charset="0"/>
              </a:rPr>
              <a:t>Data analysts, business analysts, and data scientists make use of advanced analytics and visualization tools to identify patterns, trends, and correlations. They are key to transforming raw data into business insights for optimization and forecasting. </a:t>
            </a:r>
          </a:p>
          <a:p>
            <a:pPr marL="457200" indent="-457200" algn="just">
              <a:lnSpc>
                <a:spcPct val="150000"/>
              </a:lnSpc>
              <a:buAutoNum type="arabicPeriod"/>
            </a:pPr>
            <a:r>
              <a:rPr lang="en-US" sz="2300" b="1" dirty="0">
                <a:latin typeface="Times New Roman" panose="02020603050405020304" pitchFamily="18" charset="0"/>
                <a:cs typeface="Times New Roman" panose="02020603050405020304" pitchFamily="18" charset="0"/>
              </a:rPr>
              <a:t>Operational Users: </a:t>
            </a:r>
            <a:r>
              <a:rPr lang="en-US" sz="2300" dirty="0">
                <a:latin typeface="Times New Roman" panose="02020603050405020304" pitchFamily="18" charset="0"/>
                <a:cs typeface="Times New Roman" panose="02020603050405020304" pitchFamily="18" charset="0"/>
              </a:rPr>
              <a:t>These users are involved in daily operations (e.g., team leaders, supervisors). They rely on BI for real-time monitoring of performance metrics and to take quick actions to maintain efficiency and productivity. </a:t>
            </a:r>
          </a:p>
          <a:p>
            <a:pPr marL="457200" indent="-457200" algn="just">
              <a:lnSpc>
                <a:spcPct val="150000"/>
              </a:lnSpc>
              <a:buAutoNum type="arabicPeriod"/>
            </a:pPr>
            <a:r>
              <a:rPr lang="en-US" sz="2300" b="1" dirty="0">
                <a:latin typeface="Times New Roman" panose="02020603050405020304" pitchFamily="18" charset="0"/>
                <a:cs typeface="Times New Roman" panose="02020603050405020304" pitchFamily="18" charset="0"/>
              </a:rPr>
              <a:t>Self-Service Users: </a:t>
            </a:r>
            <a:r>
              <a:rPr lang="en-US" sz="2300" dirty="0">
                <a:latin typeface="Times New Roman" panose="02020603050405020304" pitchFamily="18" charset="0"/>
                <a:cs typeface="Times New Roman" panose="02020603050405020304" pitchFamily="18" charset="0"/>
              </a:rPr>
              <a:t>Self-service users, typically from departments like sales, marketing, and HR, utilize BI tools with drag-and-drop functionality to create custom reports and dashboards. They can explore data independently without heavy reliance on IT.</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5481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FFA75-CD0B-705A-0DB9-82B8CAE59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38516-5ADA-CE07-6D6E-1FE1C696298E}"/>
              </a:ext>
            </a:extLst>
          </p:cNvPr>
          <p:cNvSpPr>
            <a:spLocks noGrp="1"/>
          </p:cNvSpPr>
          <p:nvPr>
            <p:ph type="title"/>
          </p:nvPr>
        </p:nvSpPr>
        <p:spPr>
          <a:xfrm>
            <a:off x="178676" y="96245"/>
            <a:ext cx="11080531" cy="345190"/>
          </a:xfrm>
        </p:spPr>
        <p:txBody>
          <a:bodyPr>
            <a:noAutofit/>
          </a:bodyPr>
          <a:lstStyle/>
          <a:p>
            <a:r>
              <a:rPr lang="en-US" sz="3200" b="1" dirty="0">
                <a:latin typeface="Times New Roman" panose="02020603050405020304" pitchFamily="18" charset="0"/>
                <a:cs typeface="Times New Roman" panose="02020603050405020304" pitchFamily="18" charset="0"/>
              </a:rPr>
              <a:t>Best BI practices:</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0C12500-6F0B-1BEA-7D47-AB4E5600D6FB}"/>
              </a:ext>
            </a:extLst>
          </p:cNvPr>
          <p:cNvSpPr>
            <a:spLocks noGrp="1"/>
          </p:cNvSpPr>
          <p:nvPr>
            <p:ph idx="1"/>
          </p:nvPr>
        </p:nvSpPr>
        <p:spPr>
          <a:xfrm>
            <a:off x="178677" y="557048"/>
            <a:ext cx="11771586" cy="6204707"/>
          </a:xfrm>
        </p:spPr>
        <p:txBody>
          <a:bodyPr>
            <a:normAutofit lnSpcReduction="10000"/>
          </a:bodyPr>
          <a:lstStyle/>
          <a:p>
            <a:pPr algn="just">
              <a:lnSpc>
                <a:spcPct val="150000"/>
              </a:lnSpc>
            </a:pPr>
            <a:r>
              <a:rPr lang="en-US" sz="2300" b="1" dirty="0">
                <a:latin typeface="Times New Roman" panose="02020603050405020304" pitchFamily="18" charset="0"/>
                <a:cs typeface="Times New Roman" panose="02020603050405020304" pitchFamily="18" charset="0"/>
              </a:rPr>
              <a:t>Set clear business objectives: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Determining the most valuable and actionable information enables an organization to determine the data that needs to be collected or sourced and help select the BI system features needed to deliver that information.</a:t>
            </a:r>
          </a:p>
          <a:p>
            <a:pPr algn="just">
              <a:lnSpc>
                <a:spcPct val="150000"/>
              </a:lnSpc>
            </a:pPr>
            <a:r>
              <a:rPr lang="en-US" sz="2300" b="1" dirty="0">
                <a:latin typeface="Times New Roman" panose="02020603050405020304" pitchFamily="18" charset="0"/>
                <a:cs typeface="Times New Roman" panose="02020603050405020304" pitchFamily="18" charset="0"/>
              </a:rPr>
              <a:t>Comprehensive user training: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The culture change to becoming a data-driven organization is most achievable when all users are given clear and compelling lessons on the new tools. </a:t>
            </a:r>
          </a:p>
          <a:p>
            <a:pPr algn="just">
              <a:lnSpc>
                <a:spcPct val="150000"/>
              </a:lnSpc>
            </a:pPr>
            <a:r>
              <a:rPr lang="en-US" sz="2300" b="1" dirty="0">
                <a:latin typeface="Times New Roman" panose="02020603050405020304" pitchFamily="18" charset="0"/>
                <a:cs typeface="Times New Roman" panose="02020603050405020304" pitchFamily="18" charset="0"/>
              </a:rPr>
              <a:t>Monitor data quality and relevance: </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Constant data monitoring is needed to help ensure that results are consistent and trustworthy. As market conditions change, new measures might need to be added or different reporting formats developed to add clarity. </a:t>
            </a:r>
          </a:p>
          <a:p>
            <a:pPr marL="0" indent="0" algn="just">
              <a:lnSpc>
                <a:spcPct val="150000"/>
              </a:lnSpc>
              <a:buNone/>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6622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445C-2FC6-90F6-59D7-C507F844A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F0F7C-6854-22BD-7516-4DCC73DF952F}"/>
              </a:ext>
            </a:extLst>
          </p:cNvPr>
          <p:cNvSpPr>
            <a:spLocks noGrp="1"/>
          </p:cNvSpPr>
          <p:nvPr>
            <p:ph type="title"/>
          </p:nvPr>
        </p:nvSpPr>
        <p:spPr>
          <a:xfrm>
            <a:off x="178676" y="96245"/>
            <a:ext cx="11080531" cy="345190"/>
          </a:xfrm>
        </p:spPr>
        <p:txBody>
          <a:bodyPr>
            <a:noAutofit/>
          </a:bodyPr>
          <a:lstStyle/>
          <a:p>
            <a:r>
              <a:rPr lang="en-US" sz="3200" b="1" dirty="0">
                <a:latin typeface="Times New Roman" panose="02020603050405020304" pitchFamily="18" charset="0"/>
                <a:cs typeface="Times New Roman" panose="02020603050405020304" pitchFamily="18" charset="0"/>
              </a:rPr>
              <a:t>Types of BI users:</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0EBCBB7-ADE0-15A9-1E31-50352198F064}"/>
              </a:ext>
            </a:extLst>
          </p:cNvPr>
          <p:cNvSpPr>
            <a:spLocks noGrp="1"/>
          </p:cNvSpPr>
          <p:nvPr>
            <p:ph idx="1"/>
          </p:nvPr>
        </p:nvSpPr>
        <p:spPr>
          <a:xfrm>
            <a:off x="178677" y="557048"/>
            <a:ext cx="11771586" cy="6204707"/>
          </a:xfrm>
        </p:spPr>
        <p:txBody>
          <a:bodyPr>
            <a:normAutofit/>
          </a:bodyPr>
          <a:lstStyle/>
          <a:p>
            <a:pPr algn="just">
              <a:lnSpc>
                <a:spcPct val="150000"/>
              </a:lnSpc>
            </a:pPr>
            <a:r>
              <a:rPr lang="en-US" sz="2300" b="1" dirty="0">
                <a:latin typeface="Times New Roman" panose="02020603050405020304" pitchFamily="18" charset="0"/>
                <a:cs typeface="Times New Roman" panose="02020603050405020304" pitchFamily="18" charset="0"/>
              </a:rPr>
              <a:t>Ensure data access to decision-makers:</a:t>
            </a:r>
          </a:p>
          <a:p>
            <a:pPr marL="0" indent="0" algn="just">
              <a:lnSpc>
                <a:spcPct val="150000"/>
              </a:lnSpc>
              <a:buNone/>
            </a:pPr>
            <a:r>
              <a:rPr lang="en-US" sz="2300" dirty="0">
                <a:latin typeface="Times New Roman" panose="02020603050405020304" pitchFamily="18" charset="0"/>
                <a:cs typeface="Times New Roman" panose="02020603050405020304" pitchFamily="18" charset="0"/>
              </a:rPr>
              <a:t>Companies with a modern data architecture and robust BI adoption enjoy competitive advantage: They are positioned to move even further ahead by adopting real-time decisioning practices and predictive analytics.</a:t>
            </a:r>
          </a:p>
          <a:p>
            <a:pPr marL="0" indent="0" algn="just">
              <a:lnSpc>
                <a:spcPct val="150000"/>
              </a:lnSpc>
              <a:buNone/>
            </a:pPr>
            <a:r>
              <a:rPr lang="en-US" sz="2400" b="1" dirty="0">
                <a:latin typeface="Times New Roman" panose="02020603050405020304" pitchFamily="18" charset="0"/>
                <a:cs typeface="Times New Roman" panose="02020603050405020304" pitchFamily="18" charset="0"/>
              </a:rPr>
              <a:t>BI tools:</a:t>
            </a:r>
            <a:endParaRPr lang="en-US" sz="2300" dirty="0">
              <a:latin typeface="Times New Roman" panose="02020603050405020304" pitchFamily="18" charset="0"/>
              <a:cs typeface="Times New Roman" panose="02020603050405020304" pitchFamily="18" charset="0"/>
            </a:endParaRPr>
          </a:p>
          <a:p>
            <a:pPr algn="just">
              <a:lnSpc>
                <a:spcPct val="150000"/>
              </a:lnSpc>
            </a:pPr>
            <a:r>
              <a:rPr lang="en-IN" sz="2300" b="1" u="sng" dirty="0">
                <a:latin typeface="Times New Roman" panose="02020603050405020304" pitchFamily="18" charset="0"/>
                <a:cs typeface="Times New Roman" panose="02020603050405020304" pitchFamily="18" charset="0"/>
              </a:rPr>
              <a:t>Microsoft Power BI</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Interactive dashboards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Strong Excel integration</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Self-service analytics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Widely used in enterprises</a:t>
            </a:r>
          </a:p>
        </p:txBody>
      </p:sp>
    </p:spTree>
    <p:extLst>
      <p:ext uri="{BB962C8B-B14F-4D97-AF65-F5344CB8AC3E}">
        <p14:creationId xmlns:p14="http://schemas.microsoft.com/office/powerpoint/2010/main" val="230130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39C8-DBEF-43DE-758F-6A129DD49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D1FB2-6F2F-1B33-89FB-D14F9921364F}"/>
              </a:ext>
            </a:extLst>
          </p:cNvPr>
          <p:cNvSpPr>
            <a:spLocks noGrp="1"/>
          </p:cNvSpPr>
          <p:nvPr>
            <p:ph type="title"/>
          </p:nvPr>
        </p:nvSpPr>
        <p:spPr>
          <a:xfrm>
            <a:off x="178676" y="96245"/>
            <a:ext cx="11080531" cy="345190"/>
          </a:xfrm>
        </p:spPr>
        <p:txBody>
          <a:bodyPr>
            <a:noAutofit/>
          </a:bodyPr>
          <a:lstStyle/>
          <a:p>
            <a:r>
              <a:rPr lang="en-US" sz="3200" b="1" dirty="0">
                <a:latin typeface="Times New Roman" panose="02020603050405020304" pitchFamily="18" charset="0"/>
                <a:cs typeface="Times New Roman" panose="02020603050405020304" pitchFamily="18" charset="0"/>
              </a:rPr>
              <a:t>BI tools:</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60F8360-870B-1723-4851-21F5781C270A}"/>
              </a:ext>
            </a:extLst>
          </p:cNvPr>
          <p:cNvSpPr>
            <a:spLocks noGrp="1"/>
          </p:cNvSpPr>
          <p:nvPr>
            <p:ph idx="1"/>
          </p:nvPr>
        </p:nvSpPr>
        <p:spPr>
          <a:xfrm>
            <a:off x="178677" y="557048"/>
            <a:ext cx="11771586" cy="6204707"/>
          </a:xfrm>
        </p:spPr>
        <p:txBody>
          <a:bodyPr>
            <a:normAutofit fontScale="85000" lnSpcReduction="20000"/>
          </a:bodyPr>
          <a:lstStyle/>
          <a:p>
            <a:pPr algn="just">
              <a:lnSpc>
                <a:spcPct val="150000"/>
              </a:lnSpc>
            </a:pPr>
            <a:r>
              <a:rPr lang="en-IN" sz="2300" b="1" u="sng" dirty="0">
                <a:latin typeface="Times New Roman" panose="02020603050405020304" pitchFamily="18" charset="0"/>
                <a:cs typeface="Times New Roman" panose="02020603050405020304" pitchFamily="18" charset="0"/>
              </a:rPr>
              <a:t>Tableau</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Advanced visualization</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Drag-and-drop analytics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Strong for storytelling with data</a:t>
            </a:r>
          </a:p>
          <a:p>
            <a:pPr algn="just">
              <a:lnSpc>
                <a:spcPct val="150000"/>
              </a:lnSpc>
            </a:pPr>
            <a:r>
              <a:rPr lang="en-IN" sz="2300" b="1" u="sng" dirty="0">
                <a:latin typeface="Times New Roman" panose="02020603050405020304" pitchFamily="18" charset="0"/>
                <a:cs typeface="Times New Roman" panose="02020603050405020304" pitchFamily="18" charset="0"/>
              </a:rPr>
              <a:t>Qlik Sense</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Associative data model</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Fast in-memory analytics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Good for exploration</a:t>
            </a:r>
          </a:p>
          <a:p>
            <a:pPr algn="just">
              <a:lnSpc>
                <a:spcPct val="150000"/>
              </a:lnSpc>
            </a:pPr>
            <a:r>
              <a:rPr lang="en-IN" sz="2300" b="1" u="sng" dirty="0">
                <a:latin typeface="Times New Roman" panose="02020603050405020304" pitchFamily="18" charset="0"/>
                <a:cs typeface="Times New Roman" panose="02020603050405020304" pitchFamily="18" charset="0"/>
              </a:rPr>
              <a:t>SAP BusinessObjects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Enterprise reporting</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Pixel-perfect reports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Used in large organizations</a:t>
            </a:r>
          </a:p>
        </p:txBody>
      </p:sp>
    </p:spTree>
    <p:extLst>
      <p:ext uri="{BB962C8B-B14F-4D97-AF65-F5344CB8AC3E}">
        <p14:creationId xmlns:p14="http://schemas.microsoft.com/office/powerpoint/2010/main" val="2559985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4C557-6997-A05D-8D9E-445057D0C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42492-D751-D916-6AB9-3C37D23DC4DD}"/>
              </a:ext>
            </a:extLst>
          </p:cNvPr>
          <p:cNvSpPr>
            <a:spLocks noGrp="1"/>
          </p:cNvSpPr>
          <p:nvPr>
            <p:ph type="title"/>
          </p:nvPr>
        </p:nvSpPr>
        <p:spPr>
          <a:xfrm>
            <a:off x="178676" y="96245"/>
            <a:ext cx="11080531" cy="345190"/>
          </a:xfrm>
        </p:spPr>
        <p:txBody>
          <a:bodyPr>
            <a:noAutofit/>
          </a:bodyPr>
          <a:lstStyle/>
          <a:p>
            <a:r>
              <a:rPr lang="en-US" sz="3200" b="1" dirty="0">
                <a:latin typeface="Times New Roman" panose="02020603050405020304" pitchFamily="18" charset="0"/>
                <a:cs typeface="Times New Roman" panose="02020603050405020304" pitchFamily="18" charset="0"/>
              </a:rPr>
              <a:t>BI tools:</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6D8E960-E739-EB2E-66B2-5836F3160596}"/>
              </a:ext>
            </a:extLst>
          </p:cNvPr>
          <p:cNvSpPr>
            <a:spLocks noGrp="1"/>
          </p:cNvSpPr>
          <p:nvPr>
            <p:ph idx="1"/>
          </p:nvPr>
        </p:nvSpPr>
        <p:spPr>
          <a:xfrm>
            <a:off x="178677" y="557048"/>
            <a:ext cx="11771586" cy="6204707"/>
          </a:xfrm>
        </p:spPr>
        <p:txBody>
          <a:bodyPr>
            <a:normAutofit/>
          </a:bodyPr>
          <a:lstStyle/>
          <a:p>
            <a:pPr algn="just">
              <a:lnSpc>
                <a:spcPct val="150000"/>
              </a:lnSpc>
            </a:pPr>
            <a:r>
              <a:rPr lang="en-IN" sz="2300" b="1" u="sng" dirty="0">
                <a:latin typeface="Times New Roman" panose="02020603050405020304" pitchFamily="18" charset="0"/>
                <a:cs typeface="Times New Roman" panose="02020603050405020304" pitchFamily="18" charset="0"/>
              </a:rPr>
              <a:t>Oracle Analytics Cloud</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Cloud-based BI</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Embedded AI insights</a:t>
            </a:r>
          </a:p>
          <a:p>
            <a:pPr marL="0" indent="0" algn="just">
              <a:lnSpc>
                <a:spcPct val="150000"/>
              </a:lnSpc>
              <a:buNone/>
            </a:pPr>
            <a:r>
              <a:rPr lang="en-IN" sz="2300" dirty="0">
                <a:latin typeface="Times New Roman" panose="02020603050405020304" pitchFamily="18" charset="0"/>
                <a:cs typeface="Times New Roman" panose="02020603050405020304" pitchFamily="18" charset="0"/>
              </a:rPr>
              <a:t>Enterprise scale</a:t>
            </a:r>
          </a:p>
        </p:txBody>
      </p:sp>
    </p:spTree>
    <p:extLst>
      <p:ext uri="{BB962C8B-B14F-4D97-AF65-F5344CB8AC3E}">
        <p14:creationId xmlns:p14="http://schemas.microsoft.com/office/powerpoint/2010/main" val="3980133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TotalTime>
  <Words>1689</Words>
  <Application>Microsoft Office PowerPoint</Application>
  <PresentationFormat>Widescreen</PresentationFormat>
  <Paragraphs>140</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Courier New</vt:lpstr>
      <vt:lpstr>Times New Roman</vt:lpstr>
      <vt:lpstr>Office Theme</vt:lpstr>
      <vt:lpstr>Executive Information System</vt:lpstr>
      <vt:lpstr>PowerPoint Presentation</vt:lpstr>
      <vt:lpstr>Executive Information System</vt:lpstr>
      <vt:lpstr>Executive Information System</vt:lpstr>
      <vt:lpstr>Executive Information System</vt:lpstr>
      <vt:lpstr>Executive Information System</vt:lpstr>
      <vt:lpstr>Enterprise Resource Planning:</vt:lpstr>
      <vt:lpstr>ERP vs BI:</vt:lpstr>
      <vt:lpstr>ERP vs BI:</vt:lpstr>
      <vt:lpstr>ERP vs BI:</vt:lpstr>
      <vt:lpstr>Framework of BI:</vt:lpstr>
      <vt:lpstr>Framework of BI:</vt:lpstr>
      <vt:lpstr>Framework of BI:</vt:lpstr>
      <vt:lpstr>Framework of BI:</vt:lpstr>
      <vt:lpstr>Types of BI users:</vt:lpstr>
      <vt:lpstr>Best BI practices:</vt:lpstr>
      <vt:lpstr>Types of BI users:</vt:lpstr>
      <vt:lpstr>BI tools:</vt:lpstr>
      <vt:lpstr>BI tools: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sudhir mukadam</dc:creator>
  <cp:lastModifiedBy>sudhir mukadam</cp:lastModifiedBy>
  <cp:revision>19</cp:revision>
  <dcterms:created xsi:type="dcterms:W3CDTF">2026-02-05T06:43:31Z</dcterms:created>
  <dcterms:modified xsi:type="dcterms:W3CDTF">2026-02-19T18:43:30Z</dcterms:modified>
</cp:coreProperties>
</file>